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160">
                <a:solidFill>
                  <a:srgbClr val="22D3EE"/>
                </a:solidFill>
                <a:latin typeface="IBM Plex Mono"/>
              </a:rPr>
              <a:t>MULTI-AGENT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97480"/>
            <a:ext cx="106070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b="1">
                <a:solidFill>
                  <a:srgbClr val="E7EDF3"/>
                </a:solidFill>
                <a:latin typeface="IBM Plex Sans"/>
              </a:rPr>
              <a:t>AI Travel Booking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9BA7B8"/>
                </a:solidFill>
                <a:latin typeface="IBM Plex Sans"/>
              </a:rPr>
              <a:t>A five-agent LangGraph pipeline that turns a natural-language trip request</a:t>
            </a:r>
          </a:p>
          <a:p>
            <a:pPr algn="l"/>
            <a:r>
              <a:rPr sz="1600" b="0">
                <a:solidFill>
                  <a:srgbClr val="9BA7B8"/>
                </a:solidFill>
                <a:latin typeface="IBM Plex Sans"/>
              </a:rPr>
              <a:t>into a priced, sourced itinerary.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26E80"/>
                </a:solidFill>
                <a:latin typeface="IBM Plex Mono"/>
              </a:rPr>
              <a:t>LangGraph  ·  LangChain  ·  Model Context Protocol  ·  OpenRouter  ·  PostgreSQL  ·  LangSmith  ·  Streamlit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22D3EE"/>
                </a:solidFill>
                <a:latin typeface="IBM Plex Mono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058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E7EDF3"/>
                </a:solidFill>
                <a:latin typeface="IBM Plex Sans"/>
              </a:rPr>
              <a:t>One request, five specialists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67665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9BA7B8"/>
                </a:solidFill>
                <a:latin typeface="IBM Plex Sans"/>
              </a:rPr>
              <a:t>The user describes a trip once — dates, budget, travellers, destination. LangGraph runs that request through five purpose-built agents in sequence, each resolving one piece of the plan before handing state to the next, and checkpoints every step to Postgres.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461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383280"/>
            <a:ext cx="1920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22D3EE"/>
                </a:solidFill>
                <a:latin typeface="IBM Plex Mono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2336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Sans"/>
              </a:rPr>
              <a:t>Agents in the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2461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383280"/>
            <a:ext cx="1920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22D3EE"/>
                </a:solidFill>
                <a:latin typeface="IBM Plex Mono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02336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Sans"/>
              </a:rPr>
              <a:t>External data 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2461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3383280"/>
            <a:ext cx="1920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22D3EE"/>
                </a:solidFill>
                <a:latin typeface="IBM Plex Mon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02336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Sans"/>
              </a:rPr>
              <a:t>Agents that call the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3246120"/>
            <a:ext cx="2377440" cy="123444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383280"/>
            <a:ext cx="1920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22D3EE"/>
                </a:solidFill>
                <a:latin typeface="IBM Plex Mono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023360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Sans"/>
              </a:rPr>
              <a:t>Shared TravelState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0058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spc="140">
                <a:solidFill>
                  <a:srgbClr val="22D3EE"/>
                </a:solidFill>
                <a:latin typeface="IBM Plex Mono"/>
              </a:rPr>
              <a:t>WHAT IT PRODUCES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102412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9BA7B8"/>
                </a:solidFill>
                <a:latin typeface="IBM Plex Sans"/>
              </a:rPr>
              <a:t>A day-by-day itinerary with flight guidance, hotel options, live weather, and named sightseeing attractions — exportable as Markdown, PDF, or Word, with every run logged to a searchable history and an in-app observability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26E80"/>
                </a:solidFill>
                <a:latin typeface="IBM Plex Mono"/>
              </a:rPr>
              <a:t>AI Travel Booking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26E80"/>
                </a:solidFill>
                <a:latin typeface="IBM Plex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22D3EE"/>
                </a:solidFill>
                <a:latin typeface="IBM Plex Mono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E7EDF3"/>
                </a:solidFill>
                <a:latin typeface="IBM Plex Sans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371600"/>
            <a:ext cx="2286000" cy="384048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1371600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E7EDF3"/>
                </a:solidFill>
                <a:latin typeface="IBM Plex Mono"/>
              </a:rP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965960"/>
            <a:ext cx="4480560" cy="502920"/>
          </a:xfrm>
          <a:prstGeom prst="roundRect">
            <a:avLst>
              <a:gd name="adj" fmla="val 8000"/>
            </a:avLst>
          </a:prstGeom>
          <a:solidFill>
            <a:srgbClr val="1B2331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93392"/>
            <a:ext cx="4480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7EDF3"/>
                </a:solidFill>
                <a:latin typeface="IBM Plex Sans"/>
              </a:rPr>
              <a:t>Streamlit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31136"/>
            <a:ext cx="4480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26E80"/>
                </a:solidFill>
                <a:latin typeface="IBM Plex Mono"/>
              </a:rPr>
              <a:t>frontend.py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697480"/>
            <a:ext cx="4480560" cy="502920"/>
          </a:xfrm>
          <a:prstGeom prst="roundRect">
            <a:avLst>
              <a:gd name="adj" fmla="val 8000"/>
            </a:avLst>
          </a:prstGeom>
          <a:solidFill>
            <a:srgbClr val="1B2331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724912"/>
            <a:ext cx="4480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7EDF3"/>
                </a:solidFill>
                <a:latin typeface="IBM Plex Sans"/>
              </a:rPr>
              <a:t>LangGraph 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62656"/>
            <a:ext cx="44805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26E80"/>
                </a:solidFill>
                <a:latin typeface="IBM Plex Mono"/>
              </a:rPr>
              <a:t>main.py · TravelState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1755648"/>
            <a:ext cx="0" cy="210312"/>
          </a:xfrm>
          <a:prstGeom prst="line">
            <a:avLst/>
          </a:prstGeom>
          <a:ln w="15875">
            <a:solidFill>
              <a:srgbClr val="626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06440" y="2468880"/>
            <a:ext cx="0" cy="228600"/>
          </a:xfrm>
          <a:prstGeom prst="line">
            <a:avLst/>
          </a:prstGeom>
          <a:ln w="15875">
            <a:solidFill>
              <a:srgbClr val="626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8640" y="3429000"/>
            <a:ext cx="11064240" cy="9601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626E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65760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1B2331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1965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E7EDF3"/>
                </a:solidFill>
                <a:latin typeface="IBM Plex Sans"/>
              </a:rPr>
              <a:t>Flight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3909060"/>
            <a:ext cx="201168" cy="0"/>
          </a:xfrm>
          <a:prstGeom prst="line">
            <a:avLst/>
          </a:prstGeom>
          <a:ln w="15875">
            <a:solidFill>
              <a:srgbClr val="626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44368" y="365760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3657600"/>
            <a:ext cx="1965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E7EDF3"/>
                </a:solidFill>
                <a:latin typeface="IBM Plex Sans"/>
              </a:rPr>
              <a:t>Hotel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910328" y="3909060"/>
            <a:ext cx="201168" cy="0"/>
          </a:xfrm>
          <a:prstGeom prst="line">
            <a:avLst/>
          </a:prstGeom>
          <a:ln w="15875">
            <a:solidFill>
              <a:srgbClr val="626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111496" y="365760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1B2331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1496" y="3657600"/>
            <a:ext cx="1965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E7EDF3"/>
                </a:solidFill>
                <a:latin typeface="IBM Plex Sans"/>
              </a:rPr>
              <a:t>Weather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77456" y="3909060"/>
            <a:ext cx="201168" cy="0"/>
          </a:xfrm>
          <a:prstGeom prst="line">
            <a:avLst/>
          </a:prstGeom>
          <a:ln w="15875">
            <a:solidFill>
              <a:srgbClr val="626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78624" y="365760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8624" y="3657600"/>
            <a:ext cx="1965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E7EDF3"/>
                </a:solidFill>
                <a:latin typeface="IBM Plex Sans"/>
              </a:rPr>
              <a:t>Sightseeing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244584" y="3909060"/>
            <a:ext cx="201168" cy="0"/>
          </a:xfrm>
          <a:prstGeom prst="line">
            <a:avLst/>
          </a:prstGeom>
          <a:ln w="15875">
            <a:solidFill>
              <a:srgbClr val="626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445752" y="3657600"/>
            <a:ext cx="1965960" cy="502920"/>
          </a:xfrm>
          <a:prstGeom prst="roundRect">
            <a:avLst>
              <a:gd name="adj" fmla="val 8000"/>
            </a:avLst>
          </a:prstGeom>
          <a:solidFill>
            <a:srgbClr val="1B2331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45752" y="3657600"/>
            <a:ext cx="1965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E7EDF3"/>
                </a:solidFill>
                <a:latin typeface="IBM Plex Sans"/>
              </a:rPr>
              <a:t>Itinerary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2004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26E80"/>
                </a:solidFill>
                <a:latin typeface="IBM Plex Mono"/>
              </a:rPr>
              <a:t>five agents, run in sequence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200400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0">
                <a:solidFill>
                  <a:srgbClr val="22D3EE"/>
                </a:solidFill>
                <a:latin typeface="IBM Plex Mono"/>
              </a:rPr>
              <a:t>shaded = calls OpenRouter LLM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965960"/>
            <a:ext cx="2377440" cy="77724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626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048256"/>
            <a:ext cx="2103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E7EDF3"/>
                </a:solidFill>
                <a:latin typeface="IBM Plex Sans"/>
              </a:rPr>
              <a:t>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2331720"/>
            <a:ext cx="21031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9BA7B8"/>
                </a:solidFill>
                <a:latin typeface="IBM Plex Mono"/>
              </a:rPr>
              <a:t>checkpoints · search history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834640" y="2194560"/>
            <a:ext cx="731520" cy="0"/>
          </a:xfrm>
          <a:prstGeom prst="line">
            <a:avLst/>
          </a:prstGeom>
          <a:ln w="15875">
            <a:solidFill>
              <a:srgbClr val="626E80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834640" y="2514600"/>
            <a:ext cx="731520" cy="365760"/>
          </a:xfrm>
          <a:prstGeom prst="line">
            <a:avLst/>
          </a:prstGeom>
          <a:ln w="15875">
            <a:solidFill>
              <a:srgbClr val="626E80"/>
            </a:solidFill>
            <a:prstDash val="sys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412480" y="1371600"/>
            <a:ext cx="3200400" cy="50292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626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137160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0">
                <a:solidFill>
                  <a:srgbClr val="9BA7B8"/>
                </a:solidFill>
                <a:latin typeface="IBM Plex Mono"/>
              </a:rPr>
              <a:t>4 MCP tool servers → AviationStack, Tavily,</a:t>
            </a:r>
          </a:p>
          <a:p>
            <a:pPr algn="ctr"/>
            <a:r>
              <a:rPr sz="950" b="0">
                <a:solidFill>
                  <a:srgbClr val="9BA7B8"/>
                </a:solidFill>
                <a:latin typeface="IBM Plex Mono"/>
              </a:rPr>
              <a:t>OpenWeatherMap, OpenTripMap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8257031" y="1874519"/>
            <a:ext cx="795529" cy="1783081"/>
          </a:xfrm>
          <a:prstGeom prst="line">
            <a:avLst/>
          </a:prstGeom>
          <a:ln w="15875">
            <a:solidFill>
              <a:srgbClr val="626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412480" y="4526280"/>
            <a:ext cx="3200400" cy="502920"/>
          </a:xfrm>
          <a:prstGeom prst="roundRect">
            <a:avLst>
              <a:gd name="adj" fmla="val 8000"/>
            </a:avLst>
          </a:prstGeom>
          <a:solidFill>
            <a:srgbClr val="1B2331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4526280"/>
            <a:ext cx="3200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2D3EE"/>
                </a:solidFill>
                <a:latin typeface="IBM Plex Sans"/>
              </a:rPr>
              <a:t>OpenRouter LLM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64792" y="4160520"/>
            <a:ext cx="8202168" cy="36576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26E80"/>
                </a:solidFill>
                <a:latin typeface="IBM Plex Mono"/>
              </a:rPr>
              <a:t>AI Travel Booking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26E80"/>
                </a:solidFill>
                <a:latin typeface="IBM Plex Mon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22D3EE"/>
                </a:solidFill>
                <a:latin typeface="IBM Plex Mono"/>
              </a:rPr>
              <a:t>MULTI-AGENT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E7EDF3"/>
                </a:solidFill>
                <a:latin typeface="IBM Plex Sans"/>
              </a:rPr>
              <a:t>What each agent reads, calls, and writes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24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BA7B8"/>
                </a:solidFill>
                <a:latin typeface="IBM Plex Sans"/>
              </a:rPr>
              <a:t>Every agent operates on one shared TravelState dict — each stage sees everything the ones before it produced.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121408" cy="4114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103120"/>
            <a:ext cx="17922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spc="100">
                <a:solidFill>
                  <a:srgbClr val="22D3EE"/>
                </a:solidFill>
                <a:latin typeface="IBM Plex Mono"/>
              </a:rP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377440"/>
            <a:ext cx="1792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E7EDF3"/>
                </a:solidFill>
                <a:latin typeface="IBM Plex Sans"/>
              </a:rPr>
              <a:t>Flight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971800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191256"/>
            <a:ext cx="1792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user_query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611880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CALLS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831336"/>
            <a:ext cx="17922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AviationStack MCP</a:t>
            </a:r>
          </a:p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OpenRouter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462272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WRITES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681728"/>
            <a:ext cx="1792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22D3EE"/>
                </a:solidFill>
                <a:latin typeface="IBM Plex Mono"/>
              </a:rPr>
              <a:t>flight_results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44368" y="3977640.0"/>
            <a:ext cx="128016" cy="0.0"/>
          </a:xfrm>
          <a:prstGeom prst="line">
            <a:avLst/>
          </a:prstGeom>
          <a:ln w="15875">
            <a:solidFill>
              <a:srgbClr val="626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72384" y="1920240"/>
            <a:ext cx="2121408" cy="4114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2103120"/>
            <a:ext cx="17922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spc="100">
                <a:solidFill>
                  <a:srgbClr val="22D3EE"/>
                </a:solidFill>
                <a:latin typeface="IBM Plex Mono"/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36976" y="2377440"/>
            <a:ext cx="1792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E7EDF3"/>
                </a:solidFill>
                <a:latin typeface="IBM Plex Sans"/>
              </a:rPr>
              <a:t>Hotel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6976" y="2971800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READS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6976" y="3191256"/>
            <a:ext cx="1792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user_query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3611880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6976" y="3831336"/>
            <a:ext cx="1792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Tavily MCP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6976" y="4251960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WRITES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6976" y="4471416"/>
            <a:ext cx="1792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22D3EE"/>
                </a:solidFill>
                <a:latin typeface="IBM Plex Mono"/>
              </a:rPr>
              <a:t>hotel_results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93792" y="3977640.0"/>
            <a:ext cx="128016" cy="0.0"/>
          </a:xfrm>
          <a:prstGeom prst="line">
            <a:avLst/>
          </a:prstGeom>
          <a:ln w="15875">
            <a:solidFill>
              <a:srgbClr val="626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321808" y="1920240"/>
            <a:ext cx="2121408" cy="4114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2103120"/>
            <a:ext cx="17922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spc="100">
                <a:solidFill>
                  <a:srgbClr val="22D3EE"/>
                </a:solidFill>
                <a:latin typeface="IBM Plex Mono"/>
              </a:rPr>
              <a:t>STAGE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377440"/>
            <a:ext cx="1792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E7EDF3"/>
                </a:solidFill>
                <a:latin typeface="IBM Plex Sans"/>
              </a:rPr>
              <a:t>Weather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971800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READS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191256"/>
            <a:ext cx="1792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user_query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611880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CALLS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831336"/>
            <a:ext cx="17922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OpenRouter</a:t>
            </a:r>
          </a:p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Weather 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4462272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WRITES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681728"/>
            <a:ext cx="17922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22D3EE"/>
                </a:solidFill>
                <a:latin typeface="IBM Plex Mono"/>
              </a:rPr>
              <a:t>weather_results</a:t>
            </a:r>
          </a:p>
          <a:p>
            <a:pPr algn="l"/>
            <a:r>
              <a:rPr sz="1050" b="0">
                <a:solidFill>
                  <a:srgbClr val="22D3EE"/>
                </a:solidFill>
                <a:latin typeface="IBM Plex Mono"/>
              </a:rPr>
              <a:t>destination_city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43216" y="3977640.0"/>
            <a:ext cx="128016" cy="0.0"/>
          </a:xfrm>
          <a:prstGeom prst="line">
            <a:avLst/>
          </a:prstGeom>
          <a:ln w="15875">
            <a:solidFill>
              <a:srgbClr val="626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571232" y="1920240"/>
            <a:ext cx="2121408" cy="4114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35824" y="2103120"/>
            <a:ext cx="17922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spc="100">
                <a:solidFill>
                  <a:srgbClr val="22D3EE"/>
                </a:solidFill>
                <a:latin typeface="IBM Plex Mono"/>
              </a:rPr>
              <a:t>STAGE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5824" y="2377440"/>
            <a:ext cx="1792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E7EDF3"/>
                </a:solidFill>
                <a:latin typeface="IBM Plex Sans"/>
              </a:rPr>
              <a:t>Sightseeing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35824" y="2971800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READS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35824" y="3191256"/>
            <a:ext cx="1792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destination_city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35824" y="3611880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CALLS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5824" y="3831336"/>
            <a:ext cx="17922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Sightseeing MCP</a:t>
            </a:r>
          </a:p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(OpenTripMap)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35824" y="4462272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WRITES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35824" y="4681728"/>
            <a:ext cx="1792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22D3EE"/>
                </a:solidFill>
                <a:latin typeface="IBM Plex Mono"/>
              </a:rPr>
              <a:t>sightseeing_results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692640" y="3977640.0"/>
            <a:ext cx="128016" cy="0.0"/>
          </a:xfrm>
          <a:prstGeom prst="line">
            <a:avLst/>
          </a:prstGeom>
          <a:ln w="15875">
            <a:solidFill>
              <a:srgbClr val="626E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820656" y="1920240"/>
            <a:ext cx="2121408" cy="41148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85248" y="2103120"/>
            <a:ext cx="17922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 spc="100">
                <a:solidFill>
                  <a:srgbClr val="22D3EE"/>
                </a:solidFill>
                <a:latin typeface="IBM Plex Mono"/>
              </a:rPr>
              <a:t>STAGE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85248" y="2377440"/>
            <a:ext cx="17922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E7EDF3"/>
                </a:solidFill>
                <a:latin typeface="IBM Plex Sans"/>
              </a:rPr>
              <a:t>Itinerary Agent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85248" y="2971800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READS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85248" y="3191256"/>
            <a:ext cx="1792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everything above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5248" y="3611880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CALLS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85248" y="3831336"/>
            <a:ext cx="179222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OpenRouter</a:t>
            </a:r>
          </a:p>
          <a:p>
            <a:pPr algn="l"/>
            <a:r>
              <a:rPr sz="1050" b="0">
                <a:solidFill>
                  <a:srgbClr val="9BA7B8"/>
                </a:solidFill>
                <a:latin typeface="IBM Plex Mono"/>
              </a:rPr>
              <a:t>(final synthesis)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85248" y="4462272"/>
            <a:ext cx="179222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1" spc="100">
                <a:solidFill>
                  <a:srgbClr val="626E80"/>
                </a:solidFill>
                <a:latin typeface="IBM Plex Mono"/>
              </a:rPr>
              <a:t>WRITES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85248" y="4681728"/>
            <a:ext cx="179222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22D3EE"/>
                </a:solidFill>
                <a:latin typeface="IBM Plex Mono"/>
              </a:rPr>
              <a:t>itinerary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26E80"/>
                </a:solidFill>
                <a:latin typeface="IBM Plex Mono"/>
              </a:rPr>
              <a:t>AI Travel Booking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26E80"/>
                </a:solidFill>
                <a:latin typeface="IBM Plex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22D3EE"/>
                </a:solidFill>
                <a:latin typeface="IBM Plex Mono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E7EDF3"/>
                </a:solidFill>
                <a:latin typeface="IBM Plex Sans"/>
              </a:rPr>
              <a:t>Every piece the pipeline touches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6479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LangGraph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60020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76479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05740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LangChain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0020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6479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OpenRouter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60020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176479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TOOL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05740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Model Context Protocol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346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99923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DATA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29184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AviationStack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28346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299923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29184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Tavily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8346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99923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DATA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29184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OpenWeatherMap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28346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99923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DATA 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29184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OpenTripMap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0690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23367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52628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PostgreSQL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40690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423367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OBSERVABILITY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52628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LangSmith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0690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23367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FRONTEND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52628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Streamlit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89720" y="406908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72600" y="4233672"/>
            <a:ext cx="22402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spc="100">
                <a:solidFill>
                  <a:srgbClr val="22D3EE"/>
                </a:solidFill>
                <a:latin typeface="IBM Plex Mono"/>
              </a:rPr>
              <a:t>EXPORT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4526280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0">
                <a:solidFill>
                  <a:srgbClr val="E7EDF3"/>
                </a:solidFill>
                <a:latin typeface="IBM Plex Sans"/>
              </a:rPr>
              <a:t>PDF · DOCX · Markdown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26E80"/>
                </a:solidFill>
                <a:latin typeface="IBM Plex Mono"/>
              </a:rPr>
              <a:t>AI Travel Booking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26E80"/>
                </a:solidFill>
                <a:latin typeface="IBM Plex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spc="140">
                <a:solidFill>
                  <a:srgbClr val="22D3EE"/>
                </a:solidFill>
                <a:latin typeface="IBM Plex Mono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E7EDF3"/>
                </a:solidFill>
                <a:latin typeface="IBM Plex Sans"/>
              </a:rPr>
              <a:t>Beyond the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54864" cy="1417320"/>
          </a:xfrm>
          <a:prstGeom prst="roundRect">
            <a:avLst>
              <a:gd name="adj" fmla="val 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4754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IBM Plex Sans"/>
              </a:rPr>
              <a:t>Booking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84832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BA7B8"/>
                </a:solidFill>
                <a:latin typeface="IBM Plex Sans"/>
              </a:rPr>
              <a:t>From / to city autosuggest, trip dates, traveller counts, budget slider, and travel-style presets compose the request.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55448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554480"/>
            <a:ext cx="54864" cy="1417320"/>
          </a:xfrm>
          <a:prstGeom prst="roundRect">
            <a:avLst>
              <a:gd name="adj" fmla="val 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719072"/>
            <a:ext cx="4754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IBM Plex Sans"/>
              </a:rPr>
              <a:t>Live agent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084832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BA7B8"/>
                </a:solidFill>
                <a:latin typeface="IBM Plex Sans"/>
              </a:rPr>
              <a:t>A five-step tracker and rotating status line show which agent is running while the pipeline streams.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20040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200400"/>
            <a:ext cx="54864" cy="1417320"/>
          </a:xfrm>
          <a:prstGeom prst="roundRect">
            <a:avLst>
              <a:gd name="adj" fmla="val 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64992"/>
            <a:ext cx="4754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IBM Plex Sans"/>
              </a:rPr>
              <a:t>Exports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30752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BA7B8"/>
                </a:solidFill>
                <a:latin typeface="IBM Plex Sans"/>
              </a:rPr>
              <a:t>Every finished plan downloads as Markdown, a styled PDF, or a Word document, and auto-saves to disk.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20040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200400"/>
            <a:ext cx="54864" cy="1417320"/>
          </a:xfrm>
          <a:prstGeom prst="roundRect">
            <a:avLst>
              <a:gd name="adj" fmla="val 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364992"/>
            <a:ext cx="4754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IBM Plex Sans"/>
              </a:rPr>
              <a:t>Search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730752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BA7B8"/>
                </a:solidFill>
                <a:latin typeface="IBM Plex Sans"/>
              </a:rPr>
              <a:t>Every run — model used, tokens, dates, response — is logged to Postgres and browsable in-app.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4632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846320"/>
            <a:ext cx="54864" cy="1417320"/>
          </a:xfrm>
          <a:prstGeom prst="roundRect">
            <a:avLst>
              <a:gd name="adj" fmla="val 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010912"/>
            <a:ext cx="4754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IBM Plex Sans"/>
              </a:rPr>
              <a:t>Observability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76672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BA7B8"/>
                </a:solidFill>
                <a:latin typeface="IBM Plex Sans"/>
              </a:rPr>
              <a:t>Per-agent latency, token, and success/error-rate charts, sourced live from LangSmith.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846320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2700">
            <a:solidFill>
              <a:srgbClr val="2B36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846320"/>
            <a:ext cx="54864" cy="1417320"/>
          </a:xfrm>
          <a:prstGeom prst="roundRect">
            <a:avLst>
              <a:gd name="adj" fmla="val 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5010912"/>
            <a:ext cx="47548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E7EDF3"/>
                </a:solidFill>
                <a:latin typeface="IBM Plex Sans"/>
              </a:rPr>
              <a:t>Model switching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376672"/>
            <a:ext cx="4754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BA7B8"/>
                </a:solidFill>
                <a:latin typeface="IBM Plex Sans"/>
              </a:rPr>
              <a:t>Swap the OpenRouter model per request if one is rate-limited or slow, without touching code.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26E80"/>
                </a:solidFill>
                <a:latin typeface="IBM Plex Mono"/>
              </a:rPr>
              <a:t>AI Travel Booking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26E80"/>
                </a:solidFill>
                <a:latin typeface="IBM Plex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331720"/>
            <a:ext cx="502920" cy="5486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8229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160">
                <a:solidFill>
                  <a:srgbClr val="22D3EE"/>
                </a:solidFill>
                <a:latin typeface="IBM Plex Mono"/>
              </a:rPr>
              <a:t>LIVE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058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E7EDF3"/>
                </a:solidFill>
                <a:latin typeface="IBM Plex Mono"/>
              </a:rPr>
              <a:t>http://localhost:8501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9BA7B8"/>
                </a:solidFill>
                <a:latin typeface="IBM Plex Sans"/>
              </a:rPr>
              <a:t>Streamlit frontend · LangGraph orchestrator · PostgreSQL checkpointing</a:t>
            </a:r>
          </a:p>
          <a:p>
            <a:pPr algn="l"/>
            <a:r>
              <a:rPr sz="1300" b="0">
                <a:solidFill>
                  <a:srgbClr val="9BA7B8"/>
                </a:solidFill>
                <a:latin typeface="IBM Plex Sans"/>
              </a:rPr>
              <a:t>Run locally with: streamlit run frontend.py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26E80"/>
                </a:solidFill>
                <a:latin typeface="IBM Plex Mono"/>
              </a:rPr>
              <a:t>AI Travel Booking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626E80"/>
                </a:solidFill>
                <a:latin typeface="IBM Plex Mono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